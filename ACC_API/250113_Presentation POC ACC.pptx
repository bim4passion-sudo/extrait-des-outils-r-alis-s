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3" r:id="rId4"/>
    <p:sldId id="264" r:id="rId5"/>
    <p:sldId id="265" r:id="rId6"/>
  </p:sldIdLst>
  <p:sldSz cx="9144000" cy="5143500" type="screen16x9"/>
  <p:notesSz cx="6858000" cy="9144000"/>
  <p:embeddedFontLst>
    <p:embeddedFont>
      <p:font typeface="Roboto" panose="02000000000000000000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j6nRxY1ycBXN71UbJe2JGHos7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970458-8F6A-4E29-9AB1-AD5021CE1967}">
  <a:tblStyle styleId="{87970458-8F6A-4E29-9AB1-AD5021CE196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28" Type="http://customschemas.google.com/relationships/presentationmetadata" Target="metadata"/><Relationship Id="rId10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4cd3b7e9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a4cd3b7e9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4cd3b7e9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a4cd3b7e9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2eefa27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22eefa27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2b137966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22b137966b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2b137966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22b137966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6a_2z-VqrA06jLytzDIaUfc8OaECR5d7/edit#slide=id.g2d695a73038_0_3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ps.autodesk.com/en/docs/acc/v1/reference/http/issues-issues-POST/" TargetMode="External"/><Relationship Id="rId4" Type="http://schemas.openxmlformats.org/officeDocument/2006/relationships/hyperlink" Target="https://docs.google.com/spreadsheets/d/1tYXtlzaHGImjG5OTgzCaNJ7eBzT5TewipZX2SfYaFCc/edit?gid=0#gid=0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s.autodesk.com/en/docs/acc/v1/reference/http/issues-issues-POS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s.autodesk.com/en/docs/acc/v1/tutorials/issues/create-issue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a4cd3b7e91_0_6"/>
          <p:cNvSpPr/>
          <p:nvPr/>
        </p:nvSpPr>
        <p:spPr>
          <a:xfrm>
            <a:off x="423475" y="929275"/>
            <a:ext cx="2659200" cy="1063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Extrait </a:t>
            </a:r>
            <a:r>
              <a:rPr lang="fr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repère fonctionnel</a:t>
            </a: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à partir de Description FNC (RegEx)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2a4cd3b7e91_0_6"/>
          <p:cNvSpPr/>
          <p:nvPr/>
        </p:nvSpPr>
        <p:spPr>
          <a:xfrm>
            <a:off x="3773750" y="983150"/>
            <a:ext cx="2659200" cy="1063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Mapping repère fonctionnel &gt; idrevit (requête API ACC</a:t>
            </a:r>
            <a:r>
              <a:rPr lang="fr"/>
              <a:t>) </a:t>
            </a: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=&gt; Python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2a4cd3b7e91_0_6"/>
          <p:cNvSpPr/>
          <p:nvPr/>
        </p:nvSpPr>
        <p:spPr>
          <a:xfrm>
            <a:off x="6969150" y="983150"/>
            <a:ext cx="2659200" cy="1063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 Revit &gt; Récupérer Coordonnées de son centre de gravité </a:t>
            </a:r>
            <a:r>
              <a:rPr lang="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(requête API ACC)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2a4cd3b7e91_0_6"/>
          <p:cNvSpPr/>
          <p:nvPr/>
        </p:nvSpPr>
        <p:spPr>
          <a:xfrm>
            <a:off x="5802175" y="2578738"/>
            <a:ext cx="3123000" cy="187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/>
              <a:t>Python</a:t>
            </a: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récupère toutes les informations nécessaire à partir de </a:t>
            </a:r>
            <a:r>
              <a:rPr lang="fr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googlesheet</a:t>
            </a: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pour créer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BCF </a:t>
            </a:r>
            <a:r>
              <a:rPr lang="fr">
                <a:solidFill>
                  <a:schemeClr val="dk1"/>
                </a:solidFill>
              </a:rPr>
              <a:t>(requête API ACC)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2a4cd3b7e91_0_6"/>
          <p:cNvSpPr txBox="1"/>
          <p:nvPr/>
        </p:nvSpPr>
        <p:spPr>
          <a:xfrm>
            <a:off x="5688150" y="45801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fr" sz="1000" b="0" i="0" u="sng" strike="noStrike" cap="none">
                <a:solidFill>
                  <a:srgbClr val="1967D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https://aps.autodesk.com/en/docs/acc/v1/reference/http/issues-issues-POST/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2a4cd3b7e91_0_6"/>
          <p:cNvSpPr/>
          <p:nvPr/>
        </p:nvSpPr>
        <p:spPr>
          <a:xfrm>
            <a:off x="3271225" y="1373600"/>
            <a:ext cx="343500" cy="262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2a4cd3b7e91_0_6"/>
          <p:cNvSpPr/>
          <p:nvPr/>
        </p:nvSpPr>
        <p:spPr>
          <a:xfrm>
            <a:off x="6585350" y="1373600"/>
            <a:ext cx="343500" cy="262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2a4cd3b7e91_0_6"/>
          <p:cNvSpPr/>
          <p:nvPr/>
        </p:nvSpPr>
        <p:spPr>
          <a:xfrm>
            <a:off x="7977125" y="2188200"/>
            <a:ext cx="390600" cy="262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2a4cd3b7e91_0_6"/>
          <p:cNvSpPr txBox="1"/>
          <p:nvPr/>
        </p:nvSpPr>
        <p:spPr>
          <a:xfrm>
            <a:off x="5917050" y="5224500"/>
            <a:ext cx="32388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2a4cd3b7e91_0_6"/>
          <p:cNvSpPr txBox="1"/>
          <p:nvPr/>
        </p:nvSpPr>
        <p:spPr>
          <a:xfrm>
            <a:off x="592650" y="491075"/>
            <a:ext cx="66111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Workflow avec Python 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2a4cd3b7e91_0_6"/>
          <p:cNvSpPr txBox="1">
            <a:spLocks noGrp="1"/>
          </p:cNvSpPr>
          <p:nvPr>
            <p:ph type="title" idx="4294967295"/>
          </p:nvPr>
        </p:nvSpPr>
        <p:spPr>
          <a:xfrm>
            <a:off x="24555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RAPPEL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a4cd3b7e91_0_67"/>
          <p:cNvSpPr txBox="1"/>
          <p:nvPr/>
        </p:nvSpPr>
        <p:spPr>
          <a:xfrm>
            <a:off x="4733700" y="1931950"/>
            <a:ext cx="1335600" cy="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chiffres qui servent de code pour chaque équipement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2a4cd3b7e91_0_67"/>
          <p:cNvSpPr/>
          <p:nvPr/>
        </p:nvSpPr>
        <p:spPr>
          <a:xfrm>
            <a:off x="6233575" y="1986100"/>
            <a:ext cx="1548600" cy="1142400"/>
          </a:xfrm>
          <a:prstGeom prst="rect">
            <a:avLst/>
          </a:prstGeom>
          <a:noFill/>
          <a:ln w="9525" cap="flat" cmpd="sng">
            <a:solidFill>
              <a:srgbClr val="98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2a4cd3b7e91_0_67"/>
          <p:cNvSpPr/>
          <p:nvPr/>
        </p:nvSpPr>
        <p:spPr>
          <a:xfrm>
            <a:off x="4733700" y="1986100"/>
            <a:ext cx="1198200" cy="1142400"/>
          </a:xfrm>
          <a:prstGeom prst="rect">
            <a:avLst/>
          </a:prstGeom>
          <a:noFill/>
          <a:ln w="9525" cap="flat" cmpd="sng">
            <a:solidFill>
              <a:srgbClr val="26D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2a4cd3b7e91_0_67"/>
          <p:cNvSpPr/>
          <p:nvPr/>
        </p:nvSpPr>
        <p:spPr>
          <a:xfrm>
            <a:off x="1036150" y="1999600"/>
            <a:ext cx="1351500" cy="724200"/>
          </a:xfrm>
          <a:prstGeom prst="rect">
            <a:avLst/>
          </a:prstGeom>
          <a:noFill/>
          <a:ln w="9525" cap="flat" cmpd="sng">
            <a:solidFill>
              <a:srgbClr val="FF4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2a4cd3b7e91_0_67"/>
          <p:cNvSpPr txBox="1">
            <a:spLocks noGrp="1"/>
          </p:cNvSpPr>
          <p:nvPr>
            <p:ph type="title"/>
          </p:nvPr>
        </p:nvSpPr>
        <p:spPr>
          <a:xfrm>
            <a:off x="3108800" y="1161200"/>
            <a:ext cx="3142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fr"/>
              <a:t>0 DVJ  201 BZ</a:t>
            </a:r>
            <a:endParaRPr/>
          </a:p>
        </p:txBody>
      </p:sp>
      <p:sp>
        <p:nvSpPr>
          <p:cNvPr id="74" name="Google Shape;74;g2a4cd3b7e91_0_67"/>
          <p:cNvSpPr txBox="1"/>
          <p:nvPr/>
        </p:nvSpPr>
        <p:spPr>
          <a:xfrm>
            <a:off x="6244800" y="1931950"/>
            <a:ext cx="1548600" cy="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Deux lettres pour indiquer le type d'équipement: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RA: Registre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VA: Vanne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2a4cd3b7e91_0_67"/>
          <p:cNvSpPr/>
          <p:nvPr/>
        </p:nvSpPr>
        <p:spPr>
          <a:xfrm>
            <a:off x="2711225" y="1986100"/>
            <a:ext cx="1720800" cy="948900"/>
          </a:xfrm>
          <a:prstGeom prst="rect">
            <a:avLst/>
          </a:prstGeom>
          <a:noFill/>
          <a:ln w="9525" cap="flat" cmpd="sng">
            <a:solidFill>
              <a:srgbClr val="00EC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2a4cd3b7e91_0_67"/>
          <p:cNvSpPr/>
          <p:nvPr/>
        </p:nvSpPr>
        <p:spPr>
          <a:xfrm>
            <a:off x="3174950" y="1277150"/>
            <a:ext cx="232200" cy="340800"/>
          </a:xfrm>
          <a:prstGeom prst="rect">
            <a:avLst/>
          </a:prstGeom>
          <a:solidFill>
            <a:srgbClr val="FF4400">
              <a:alpha val="1686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2a4cd3b7e91_0_67"/>
          <p:cNvSpPr/>
          <p:nvPr/>
        </p:nvSpPr>
        <p:spPr>
          <a:xfrm>
            <a:off x="3455300" y="1277150"/>
            <a:ext cx="642000" cy="340800"/>
          </a:xfrm>
          <a:prstGeom prst="rect">
            <a:avLst/>
          </a:prstGeom>
          <a:solidFill>
            <a:srgbClr val="00ECFF">
              <a:alpha val="1686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2a4cd3b7e91_0_67"/>
          <p:cNvSpPr/>
          <p:nvPr/>
        </p:nvSpPr>
        <p:spPr>
          <a:xfrm>
            <a:off x="4212000" y="1277150"/>
            <a:ext cx="582900" cy="340800"/>
          </a:xfrm>
          <a:prstGeom prst="rect">
            <a:avLst/>
          </a:prstGeom>
          <a:solidFill>
            <a:srgbClr val="26D500">
              <a:alpha val="1686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a4cd3b7e91_0_67"/>
          <p:cNvSpPr/>
          <p:nvPr/>
        </p:nvSpPr>
        <p:spPr>
          <a:xfrm>
            <a:off x="4865550" y="1277150"/>
            <a:ext cx="405600" cy="340800"/>
          </a:xfrm>
          <a:prstGeom prst="rect">
            <a:avLst/>
          </a:prstGeom>
          <a:solidFill>
            <a:srgbClr val="9800FF">
              <a:alpha val="1686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a4cd3b7e91_0_67"/>
          <p:cNvSpPr txBox="1"/>
          <p:nvPr/>
        </p:nvSpPr>
        <p:spPr>
          <a:xfrm>
            <a:off x="994000" y="1931950"/>
            <a:ext cx="15486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Toujours 0 sauf pour le site Bugey c’est 8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2a4cd3b7e91_0_67"/>
          <p:cNvSpPr txBox="1"/>
          <p:nvPr/>
        </p:nvSpPr>
        <p:spPr>
          <a:xfrm>
            <a:off x="2660900" y="1931950"/>
            <a:ext cx="23619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Ouvrage / Réseaux :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DVJ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JPJ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SEJ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g2a4cd3b7e91_0_67"/>
          <p:cNvCxnSpPr>
            <a:stCxn id="72" idx="0"/>
            <a:endCxn id="76" idx="1"/>
          </p:cNvCxnSpPr>
          <p:nvPr/>
        </p:nvCxnSpPr>
        <p:spPr>
          <a:xfrm rot="10800000" flipH="1">
            <a:off x="1711900" y="1447600"/>
            <a:ext cx="1463100" cy="552000"/>
          </a:xfrm>
          <a:prstGeom prst="straightConnector1">
            <a:avLst/>
          </a:prstGeom>
          <a:noFill/>
          <a:ln w="9525" cap="flat" cmpd="sng">
            <a:solidFill>
              <a:srgbClr val="FF44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3" name="Google Shape;83;g2a4cd3b7e91_0_67"/>
          <p:cNvCxnSpPr/>
          <p:nvPr/>
        </p:nvCxnSpPr>
        <p:spPr>
          <a:xfrm>
            <a:off x="3772525" y="1610725"/>
            <a:ext cx="0" cy="379500"/>
          </a:xfrm>
          <a:prstGeom prst="straightConnector1">
            <a:avLst/>
          </a:prstGeom>
          <a:noFill/>
          <a:ln w="9525" cap="flat" cmpd="sng">
            <a:solidFill>
              <a:srgbClr val="00EC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" name="Google Shape;84;g2a4cd3b7e91_0_67"/>
          <p:cNvCxnSpPr>
            <a:endCxn id="71" idx="0"/>
          </p:cNvCxnSpPr>
          <p:nvPr/>
        </p:nvCxnSpPr>
        <p:spPr>
          <a:xfrm>
            <a:off x="4630200" y="1610800"/>
            <a:ext cx="702600" cy="375300"/>
          </a:xfrm>
          <a:prstGeom prst="straightConnector1">
            <a:avLst/>
          </a:prstGeom>
          <a:noFill/>
          <a:ln w="9525" cap="flat" cmpd="sng">
            <a:solidFill>
              <a:srgbClr val="26D5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g2a4cd3b7e91_0_67"/>
          <p:cNvCxnSpPr>
            <a:stCxn id="79" idx="3"/>
            <a:endCxn id="70" idx="0"/>
          </p:cNvCxnSpPr>
          <p:nvPr/>
        </p:nvCxnSpPr>
        <p:spPr>
          <a:xfrm>
            <a:off x="5271150" y="1447550"/>
            <a:ext cx="1736700" cy="538500"/>
          </a:xfrm>
          <a:prstGeom prst="straightConnector1">
            <a:avLst/>
          </a:prstGeom>
          <a:noFill/>
          <a:ln w="9525" cap="flat" cmpd="sng">
            <a:solidFill>
              <a:srgbClr val="9800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g2a4cd3b7e91_0_67"/>
          <p:cNvSpPr txBox="1"/>
          <p:nvPr/>
        </p:nvSpPr>
        <p:spPr>
          <a:xfrm>
            <a:off x="3108800" y="758900"/>
            <a:ext cx="25479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Repère Fonctionnel 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2a4cd3b7e91_0_67"/>
          <p:cNvSpPr txBox="1">
            <a:spLocks noGrp="1"/>
          </p:cNvSpPr>
          <p:nvPr>
            <p:ph type="title"/>
          </p:nvPr>
        </p:nvSpPr>
        <p:spPr>
          <a:xfrm>
            <a:off x="24555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RAPPEL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2eefa279f_0_0"/>
          <p:cNvSpPr txBox="1">
            <a:spLocks noGrp="1"/>
          </p:cNvSpPr>
          <p:nvPr>
            <p:ph type="title"/>
          </p:nvPr>
        </p:nvSpPr>
        <p:spPr>
          <a:xfrm>
            <a:off x="253825" y="415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Création BCF via API ACC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24" name="Google Shape;124;g322eefa279f_0_0"/>
          <p:cNvSpPr txBox="1">
            <a:spLocks noGrp="1"/>
          </p:cNvSpPr>
          <p:nvPr>
            <p:ph type="title"/>
          </p:nvPr>
        </p:nvSpPr>
        <p:spPr>
          <a:xfrm>
            <a:off x="253825" y="1077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22222"/>
              <a:buNone/>
            </a:pPr>
            <a:r>
              <a:rPr lang="fr" sz="1400" b="1" dirty="0"/>
              <a:t>Liste des champs obligatoires pour que le problème soit visible dans “Model Coordination” (cf. </a:t>
            </a:r>
            <a:r>
              <a:rPr lang="fr" sz="1400" b="1" u="sng">
                <a:solidFill>
                  <a:schemeClr val="hlink"/>
                </a:solidFill>
                <a:hlinkClick r:id="rId3"/>
              </a:rPr>
              <a:t>lien Autodesk</a:t>
            </a:r>
            <a:r>
              <a:rPr lang="fr" sz="1400" b="1"/>
              <a:t>)</a:t>
            </a:r>
            <a:endParaRPr sz="1400" b="1" dirty="0"/>
          </a:p>
          <a:p>
            <a:pPr marL="457200" marR="0" lvl="0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400" dirty="0"/>
              <a:t>title</a:t>
            </a:r>
            <a:endParaRPr sz="1400" dirty="0"/>
          </a:p>
          <a:p>
            <a:pPr marL="457200" marR="0" lvl="0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400" dirty="0"/>
              <a:t>IissueSubtypeId</a:t>
            </a:r>
            <a:endParaRPr sz="1400" dirty="0"/>
          </a:p>
          <a:p>
            <a:pPr marL="457200" marR="0" lvl="0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400" dirty="0"/>
              <a:t>status: Possible values: draft, open, pending, in_progress, completed, in_review, not_approved, in_dispute, closed</a:t>
            </a:r>
            <a:endParaRPr sz="1400" dirty="0"/>
          </a:p>
          <a:p>
            <a:pPr marL="457200" marR="0" lvl="0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400" dirty="0"/>
              <a:t>linkedDocuments : obligatoire pour repérer le problème dans “Model Coordination”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2b137966b_0_17"/>
          <p:cNvSpPr txBox="1">
            <a:spLocks noGrp="1"/>
          </p:cNvSpPr>
          <p:nvPr>
            <p:ph type="title"/>
          </p:nvPr>
        </p:nvSpPr>
        <p:spPr>
          <a:xfrm>
            <a:off x="253825" y="415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Création du problème via API ACC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30" name="Google Shape;130;g322b137966b_0_17"/>
          <p:cNvSpPr txBox="1">
            <a:spLocks noGrp="1"/>
          </p:cNvSpPr>
          <p:nvPr>
            <p:ph type="title"/>
          </p:nvPr>
        </p:nvSpPr>
        <p:spPr>
          <a:xfrm>
            <a:off x="253825" y="1077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222222"/>
              <a:buNone/>
            </a:pPr>
            <a:r>
              <a:rPr lang="fr" sz="1400" b="1"/>
              <a:t>Liste des requêtes nécessaires (cf. </a:t>
            </a:r>
            <a:r>
              <a:rPr lang="fr" sz="1400" b="1" u="sng">
                <a:solidFill>
                  <a:schemeClr val="hlink"/>
                </a:solidFill>
                <a:hlinkClick r:id="rId3"/>
              </a:rPr>
              <a:t>lien Autodesk</a:t>
            </a:r>
            <a:r>
              <a:rPr lang="fr" sz="1400" b="1"/>
              <a:t>)</a:t>
            </a:r>
            <a:endParaRPr sz="1400" b="1"/>
          </a:p>
          <a:p>
            <a:pPr marL="457200" marR="0" lvl="0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400"/>
              <a:t>Verify the User’s Permissions</a:t>
            </a:r>
            <a:endParaRPr sz="1400"/>
          </a:p>
          <a:p>
            <a:pPr marL="457200" marR="0" lvl="0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400"/>
              <a:t>Find the Issue Type (subtype) ID</a:t>
            </a:r>
            <a:endParaRPr sz="1400"/>
          </a:p>
          <a:p>
            <a:pPr marL="457200" marR="0" lvl="0" indent="-3086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400"/>
              <a:t>Créer le problème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2b137966b_0_35"/>
          <p:cNvSpPr txBox="1">
            <a:spLocks noGrp="1"/>
          </p:cNvSpPr>
          <p:nvPr>
            <p:ph type="title"/>
          </p:nvPr>
        </p:nvSpPr>
        <p:spPr>
          <a:xfrm>
            <a:off x="253825" y="415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fr"/>
              <a:t>Création du problème via API ACC : Résultat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pic>
        <p:nvPicPr>
          <p:cNvPr id="136" name="Google Shape;136;g322b137966b_0_35"/>
          <p:cNvPicPr preferRelativeResize="0"/>
          <p:nvPr/>
        </p:nvPicPr>
        <p:blipFill rotWithShape="1">
          <a:blip r:embed="rId3">
            <a:alphaModFix/>
          </a:blip>
          <a:srcRect r="-5130" b="-5876"/>
          <a:stretch/>
        </p:blipFill>
        <p:spPr>
          <a:xfrm>
            <a:off x="499150" y="1132350"/>
            <a:ext cx="7220449" cy="33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PresentationFormat>Affichage à l'écran (16:9)</PresentationFormat>
  <Paragraphs>32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Roboto</vt:lpstr>
      <vt:lpstr>Arial</vt:lpstr>
      <vt:lpstr>Simple Light</vt:lpstr>
      <vt:lpstr>RAPPEL</vt:lpstr>
      <vt:lpstr>0 DVJ  201 BZ</vt:lpstr>
      <vt:lpstr>Création BCF via API ACC </vt:lpstr>
      <vt:lpstr>Création du problème via API ACC </vt:lpstr>
      <vt:lpstr>Création du problème via API ACC : Résultat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Truong Thi</cp:lastModifiedBy>
  <cp:revision>1</cp:revision>
  <dcterms:modified xsi:type="dcterms:W3CDTF">2025-12-23T05:48:28Z</dcterms:modified>
</cp:coreProperties>
</file>